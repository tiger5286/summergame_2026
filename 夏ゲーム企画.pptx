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59" r:id="rId3"/>
    <p:sldId id="257" r:id="rId4"/>
    <p:sldId id="256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0329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9952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2062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2956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7590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4240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04697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8894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8822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8870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9075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295F8ADE-B108-46AD-965F-F7327D8A4733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51363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金属の剣と盾">
            <a:extLst>
              <a:ext uri="{FF2B5EF4-FFF2-40B4-BE49-F238E27FC236}">
                <a16:creationId xmlns:a16="http://schemas.microsoft.com/office/drawing/2014/main" id="{E3268B8B-8A1B-2341-F85C-EE2F47D598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3432" r="-1" b="1960"/>
          <a:stretch>
            <a:fillRect/>
          </a:stretch>
        </p:blipFill>
        <p:spPr>
          <a:xfrm>
            <a:off x="20" y="10"/>
            <a:ext cx="12188930" cy="685799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846F842C-54DD-B570-41E9-C81183F751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2476" y="365760"/>
            <a:ext cx="9144000" cy="3063240"/>
          </a:xfrm>
        </p:spPr>
        <p:txBody>
          <a:bodyPr>
            <a:normAutofit/>
          </a:bodyPr>
          <a:lstStyle/>
          <a:p>
            <a:r>
              <a:rPr kumimoji="1" lang="en-US" altLang="ja-JP" sz="6600" dirty="0">
                <a:solidFill>
                  <a:schemeClr val="bg1"/>
                </a:solidFill>
              </a:rPr>
              <a:t>Iron Sword</a:t>
            </a:r>
            <a:endParaRPr kumimoji="1" lang="ja-JP" altLang="en-US" sz="6600" dirty="0">
              <a:solidFill>
                <a:schemeClr val="bg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F631DDE-DD4A-7AE0-491D-6022E9F30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536192"/>
          </a:xfrm>
        </p:spPr>
        <p:txBody>
          <a:bodyPr>
            <a:normAutofit/>
          </a:bodyPr>
          <a:lstStyle/>
          <a:p>
            <a:endParaRPr lang="en-US" altLang="ja-JP" sz="1900">
              <a:solidFill>
                <a:schemeClr val="bg1"/>
              </a:solidFill>
            </a:endParaRPr>
          </a:p>
          <a:p>
            <a:r>
              <a:rPr lang="ja-JP" altLang="en-US" sz="1900">
                <a:solidFill>
                  <a:schemeClr val="bg1"/>
                </a:solidFill>
              </a:rPr>
              <a:t>ジャンル：</a:t>
            </a:r>
            <a:r>
              <a:rPr lang="en-US" altLang="ja-JP" sz="1900">
                <a:solidFill>
                  <a:schemeClr val="bg1"/>
                </a:solidFill>
              </a:rPr>
              <a:t>3D</a:t>
            </a:r>
            <a:r>
              <a:rPr lang="ja-JP" altLang="en-US" sz="1900">
                <a:solidFill>
                  <a:schemeClr val="bg1"/>
                </a:solidFill>
              </a:rPr>
              <a:t>アクション</a:t>
            </a:r>
            <a:endParaRPr lang="en-US" altLang="ja-JP" sz="1900">
              <a:solidFill>
                <a:schemeClr val="bg1"/>
              </a:solidFill>
            </a:endParaRPr>
          </a:p>
          <a:p>
            <a:r>
              <a:rPr lang="ja-JP" altLang="en-US" sz="1900">
                <a:solidFill>
                  <a:schemeClr val="bg1"/>
                </a:solidFill>
              </a:rPr>
              <a:t>プレイ人数：</a:t>
            </a:r>
            <a:r>
              <a:rPr lang="en-US" altLang="ja-JP" sz="1900">
                <a:solidFill>
                  <a:schemeClr val="bg1"/>
                </a:solidFill>
              </a:rPr>
              <a:t>1</a:t>
            </a:r>
            <a:r>
              <a:rPr lang="ja-JP" altLang="en-US" sz="1900">
                <a:solidFill>
                  <a:schemeClr val="bg1"/>
                </a:solidFill>
              </a:rPr>
              <a:t>人</a:t>
            </a:r>
            <a:endParaRPr lang="en-US" altLang="ja-JP" sz="1900">
              <a:solidFill>
                <a:schemeClr val="bg1"/>
              </a:solidFill>
            </a:endParaRPr>
          </a:p>
          <a:p>
            <a:r>
              <a:rPr kumimoji="1" lang="ja-JP" altLang="en-US" sz="1900">
                <a:solidFill>
                  <a:schemeClr val="bg1"/>
                </a:solidFill>
              </a:rPr>
              <a:t>プラットフォーム：</a:t>
            </a:r>
            <a:r>
              <a:rPr kumimoji="1" lang="en-US" altLang="ja-JP" sz="1900">
                <a:solidFill>
                  <a:schemeClr val="bg1"/>
                </a:solidFill>
              </a:rPr>
              <a:t>Windows</a:t>
            </a:r>
          </a:p>
          <a:p>
            <a:endParaRPr kumimoji="1" lang="ja-JP" altLang="en-US" sz="1900">
              <a:solidFill>
                <a:schemeClr val="bg1"/>
              </a:solidFill>
            </a:endParaRPr>
          </a:p>
        </p:txBody>
      </p:sp>
      <p:sp>
        <p:nvSpPr>
          <p:cNvPr id="20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9041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3191CAD-547E-63E0-1E99-0946D6A3654E}"/>
              </a:ext>
            </a:extLst>
          </p:cNvPr>
          <p:cNvSpPr txBox="1"/>
          <p:nvPr/>
        </p:nvSpPr>
        <p:spPr>
          <a:xfrm>
            <a:off x="4721264" y="1962150"/>
            <a:ext cx="27494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/>
              <a:t>コンセプト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0810D5-B6D9-0395-AB2D-115E6B7C4F50}"/>
              </a:ext>
            </a:extLst>
          </p:cNvPr>
          <p:cNvSpPr txBox="1"/>
          <p:nvPr/>
        </p:nvSpPr>
        <p:spPr>
          <a:xfrm>
            <a:off x="2772013" y="3429000"/>
            <a:ext cx="66479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dirty="0"/>
              <a:t>シンプル</a:t>
            </a:r>
            <a:r>
              <a:rPr kumimoji="1" lang="en-US" altLang="ja-JP" sz="7200" dirty="0"/>
              <a:t>×</a:t>
            </a:r>
            <a:r>
              <a:rPr lang="ja-JP" altLang="en-US" sz="7200" dirty="0"/>
              <a:t>爽快</a:t>
            </a:r>
            <a:endParaRPr lang="en-US" altLang="ja-JP" sz="7200" dirty="0"/>
          </a:p>
        </p:txBody>
      </p:sp>
    </p:spTree>
    <p:extLst>
      <p:ext uri="{BB962C8B-B14F-4D97-AF65-F5344CB8AC3E}">
        <p14:creationId xmlns:p14="http://schemas.microsoft.com/office/powerpoint/2010/main" val="1887785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CDB0864-9183-EA12-91B0-4130E0F5A634}"/>
              </a:ext>
            </a:extLst>
          </p:cNvPr>
          <p:cNvSpPr txBox="1"/>
          <p:nvPr/>
        </p:nvSpPr>
        <p:spPr>
          <a:xfrm>
            <a:off x="781050" y="704850"/>
            <a:ext cx="27494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/>
              <a:t>ゲーム概要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1E7EC91-4465-C72C-1CE0-78AE38B34E1C}"/>
              </a:ext>
            </a:extLst>
          </p:cNvPr>
          <p:cNvSpPr txBox="1"/>
          <p:nvPr/>
        </p:nvSpPr>
        <p:spPr>
          <a:xfrm>
            <a:off x="781050" y="1992050"/>
            <a:ext cx="808426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 dirty="0"/>
              <a:t>剣での通常攻撃コンボと爽快な必殺技で敵を倒し</a:t>
            </a:r>
            <a:endParaRPr lang="en-US" altLang="ja-JP" sz="2800" dirty="0"/>
          </a:p>
          <a:p>
            <a:r>
              <a:rPr lang="ja-JP" altLang="en-US" sz="2800" dirty="0"/>
              <a:t>ステージを攻略していくゲーム</a:t>
            </a:r>
            <a:endParaRPr lang="en-US" altLang="ja-JP" sz="28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19A8A3B-ADCA-8131-EB6B-165311516FFB}"/>
              </a:ext>
            </a:extLst>
          </p:cNvPr>
          <p:cNvSpPr txBox="1"/>
          <p:nvPr/>
        </p:nvSpPr>
        <p:spPr>
          <a:xfrm>
            <a:off x="781050" y="3525471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参考にするゲーム：</a:t>
            </a:r>
            <a:r>
              <a:rPr kumimoji="1" lang="en-US" altLang="ja-JP" sz="2800" dirty="0"/>
              <a:t>FF16</a:t>
            </a:r>
            <a:endParaRPr kumimoji="1" lang="ja-JP" altLang="en-US" sz="2800" dirty="0"/>
          </a:p>
        </p:txBody>
      </p:sp>
      <p:pic>
        <p:nvPicPr>
          <p:cNvPr id="4" name="図 3" descr="FINAL FANTASY XVI">
            <a:extLst>
              <a:ext uri="{FF2B5EF4-FFF2-40B4-BE49-F238E27FC236}">
                <a16:creationId xmlns:a16="http://schemas.microsoft.com/office/drawing/2014/main" id="{1A271141-54DE-84DF-6445-3CCA966F4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4075" y="3337916"/>
            <a:ext cx="6257924" cy="3520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228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A9EEDD8-5C9A-3BD1-AE5E-1B58FC870539}"/>
              </a:ext>
            </a:extLst>
          </p:cNvPr>
          <p:cNvSpPr txBox="1"/>
          <p:nvPr/>
        </p:nvSpPr>
        <p:spPr>
          <a:xfrm>
            <a:off x="708602" y="526063"/>
            <a:ext cx="83591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800" dirty="0"/>
              <a:t>やりたいこと</a:t>
            </a:r>
            <a:r>
              <a:rPr lang="ja-JP" altLang="en-US" sz="4800" dirty="0"/>
              <a:t>①</a:t>
            </a:r>
            <a:r>
              <a:rPr kumimoji="1" lang="ja-JP" altLang="en-US" sz="4800" dirty="0"/>
              <a:t>：必殺技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33E33F7-14C9-B1B5-5486-FC585BE35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02" y="4565130"/>
            <a:ext cx="3671601" cy="173811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F026415-C053-68AC-8729-A94D75BE7E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085" y="3238952"/>
            <a:ext cx="1676634" cy="132416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7299FB53-0C3B-4D62-751A-973DD1CB40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275" y="3238952"/>
            <a:ext cx="5504873" cy="3092985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97F338B-8999-EBA8-C8A1-44B41F88CD6B}"/>
              </a:ext>
            </a:extLst>
          </p:cNvPr>
          <p:cNvSpPr txBox="1"/>
          <p:nvPr/>
        </p:nvSpPr>
        <p:spPr>
          <a:xfrm>
            <a:off x="913186" y="2730262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攻撃でゲージを貯める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2BA1A6C-6ACE-26D9-E116-EF76580E7A93}"/>
              </a:ext>
            </a:extLst>
          </p:cNvPr>
          <p:cNvSpPr txBox="1"/>
          <p:nvPr/>
        </p:nvSpPr>
        <p:spPr>
          <a:xfrm>
            <a:off x="6821031" y="2777287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ゲージを消費して必殺技を発動</a:t>
            </a:r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912FBBBD-056B-7254-FF1B-BCDFF3EC36B9}"/>
              </a:ext>
            </a:extLst>
          </p:cNvPr>
          <p:cNvSpPr/>
          <p:nvPr/>
        </p:nvSpPr>
        <p:spPr>
          <a:xfrm>
            <a:off x="4643293" y="3677112"/>
            <a:ext cx="1237673" cy="4156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矢印: 右 13">
            <a:extLst>
              <a:ext uri="{FF2B5EF4-FFF2-40B4-BE49-F238E27FC236}">
                <a16:creationId xmlns:a16="http://schemas.microsoft.com/office/drawing/2014/main" id="{8BF0D0A6-2640-80DA-2B97-E9A68776EF7E}"/>
              </a:ext>
            </a:extLst>
          </p:cNvPr>
          <p:cNvSpPr/>
          <p:nvPr/>
        </p:nvSpPr>
        <p:spPr>
          <a:xfrm flipH="1">
            <a:off x="4597279" y="5226370"/>
            <a:ext cx="1195919" cy="4156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E0FF73-7B18-5E39-E51B-5E7BBB8D82EC}"/>
              </a:ext>
            </a:extLst>
          </p:cNvPr>
          <p:cNvSpPr txBox="1"/>
          <p:nvPr/>
        </p:nvSpPr>
        <p:spPr>
          <a:xfrm>
            <a:off x="2916052" y="1782051"/>
            <a:ext cx="59298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 dirty="0"/>
              <a:t>必殺技で敵を一掃するのが爽快！！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7734226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B0909-FECC-BCAE-2D44-1EA094A43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B903457-A90E-2F84-A4D3-374D3A55D191}"/>
              </a:ext>
            </a:extLst>
          </p:cNvPr>
          <p:cNvSpPr txBox="1"/>
          <p:nvPr/>
        </p:nvSpPr>
        <p:spPr>
          <a:xfrm>
            <a:off x="708601" y="526063"/>
            <a:ext cx="103689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800" dirty="0"/>
              <a:t>やりたいこと②：ジャスト回避反撃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CA826D8-26F5-817A-AC5C-53BDB8BC6008}"/>
              </a:ext>
            </a:extLst>
          </p:cNvPr>
          <p:cNvSpPr txBox="1"/>
          <p:nvPr/>
        </p:nvSpPr>
        <p:spPr>
          <a:xfrm>
            <a:off x="1694795" y="2024548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 dirty="0"/>
              <a:t>ゲージがたくさん貯まるため、より必殺技を回せる！</a:t>
            </a:r>
            <a:endParaRPr kumimoji="1" lang="ja-JP" altLang="en-US" sz="28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EEE3DEF-1B8B-53D3-BC4D-24DBD36E1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01" y="3519844"/>
            <a:ext cx="3972330" cy="269597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D22112C-5D25-A18A-59FA-E312B45773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6" y="3519845"/>
            <a:ext cx="4612765" cy="2695974"/>
          </a:xfrm>
          <a:prstGeom prst="rect">
            <a:avLst/>
          </a:prstGeom>
        </p:spPr>
      </p:pic>
      <p:sp>
        <p:nvSpPr>
          <p:cNvPr id="15" name="矢印: 右 14">
            <a:extLst>
              <a:ext uri="{FF2B5EF4-FFF2-40B4-BE49-F238E27FC236}">
                <a16:creationId xmlns:a16="http://schemas.microsoft.com/office/drawing/2014/main" id="{11CA87FD-4051-2587-8CBA-DE0BFD0FCD2A}"/>
              </a:ext>
            </a:extLst>
          </p:cNvPr>
          <p:cNvSpPr/>
          <p:nvPr/>
        </p:nvSpPr>
        <p:spPr>
          <a:xfrm>
            <a:off x="4857750" y="4591050"/>
            <a:ext cx="2076450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46672B7-48E6-8295-D91C-321BC9E188C4}"/>
              </a:ext>
            </a:extLst>
          </p:cNvPr>
          <p:cNvSpPr txBox="1"/>
          <p:nvPr/>
        </p:nvSpPr>
        <p:spPr>
          <a:xfrm>
            <a:off x="1722353" y="3080651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ジャスト回避</a:t>
            </a:r>
            <a:endParaRPr kumimoji="1" lang="ja-JP" altLang="en-US" sz="24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BD40A98-B9C1-7AC8-1596-0D8703F7570D}"/>
              </a:ext>
            </a:extLst>
          </p:cNvPr>
          <p:cNvSpPr txBox="1"/>
          <p:nvPr/>
        </p:nvSpPr>
        <p:spPr>
          <a:xfrm>
            <a:off x="8931148" y="3080650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反撃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CDE254B-720F-BFD1-55E5-EAE256C5CC0F}"/>
              </a:ext>
            </a:extLst>
          </p:cNvPr>
          <p:cNvSpPr txBox="1"/>
          <p:nvPr/>
        </p:nvSpPr>
        <p:spPr>
          <a:xfrm>
            <a:off x="5031312" y="426169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攻撃ボタン</a:t>
            </a:r>
          </a:p>
        </p:txBody>
      </p:sp>
    </p:spTree>
    <p:extLst>
      <p:ext uri="{BB962C8B-B14F-4D97-AF65-F5344CB8AC3E}">
        <p14:creationId xmlns:p14="http://schemas.microsoft.com/office/powerpoint/2010/main" val="3336402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DEE05-8A6C-4861-2747-2142F961C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BA79A1A-AFD2-DA9C-C775-407817226590}"/>
              </a:ext>
            </a:extLst>
          </p:cNvPr>
          <p:cNvSpPr txBox="1"/>
          <p:nvPr/>
        </p:nvSpPr>
        <p:spPr>
          <a:xfrm>
            <a:off x="708601" y="526063"/>
            <a:ext cx="108460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800" dirty="0"/>
              <a:t>やりたいこと③：パリィ反撃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0B2F25-F7B9-8070-76CA-A8DDB5278CC8}"/>
              </a:ext>
            </a:extLst>
          </p:cNvPr>
          <p:cNvSpPr txBox="1"/>
          <p:nvPr/>
        </p:nvSpPr>
        <p:spPr>
          <a:xfrm>
            <a:off x="2772013" y="2014395"/>
            <a:ext cx="66479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 dirty="0"/>
              <a:t>回避反撃よりさらにゲージが溜まる！！</a:t>
            </a:r>
            <a:endParaRPr lang="en-US" altLang="ja-JP" sz="2800" dirty="0"/>
          </a:p>
        </p:txBody>
      </p:sp>
      <p:sp>
        <p:nvSpPr>
          <p:cNvPr id="15" name="矢印: 右 14">
            <a:extLst>
              <a:ext uri="{FF2B5EF4-FFF2-40B4-BE49-F238E27FC236}">
                <a16:creationId xmlns:a16="http://schemas.microsoft.com/office/drawing/2014/main" id="{27B8EE2C-7FC4-2FD9-7855-1525373441BE}"/>
              </a:ext>
            </a:extLst>
          </p:cNvPr>
          <p:cNvSpPr/>
          <p:nvPr/>
        </p:nvSpPr>
        <p:spPr>
          <a:xfrm>
            <a:off x="5064303" y="4632688"/>
            <a:ext cx="1866397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45615E2-059B-BF47-5751-3593B7B82FE3}"/>
              </a:ext>
            </a:extLst>
          </p:cNvPr>
          <p:cNvSpPr txBox="1"/>
          <p:nvPr/>
        </p:nvSpPr>
        <p:spPr>
          <a:xfrm>
            <a:off x="1664387" y="3189981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ジャストパリィ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D5A4443-7700-2510-2790-DF5B49B6A2F6}"/>
              </a:ext>
            </a:extLst>
          </p:cNvPr>
          <p:cNvSpPr txBox="1"/>
          <p:nvPr/>
        </p:nvSpPr>
        <p:spPr>
          <a:xfrm>
            <a:off x="8958322" y="317806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反撃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D1BAA42-BFA5-2813-73B5-5B6B555D530E}"/>
              </a:ext>
            </a:extLst>
          </p:cNvPr>
          <p:cNvSpPr txBox="1"/>
          <p:nvPr/>
        </p:nvSpPr>
        <p:spPr>
          <a:xfrm>
            <a:off x="5268651" y="439097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攻撃ボタン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ABEDF4D2-6D2E-598D-49A3-8A68349E5B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01" y="3668019"/>
            <a:ext cx="4250675" cy="239100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06BC64C-E11C-5B61-BA36-F28419B65A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5727" y="3612177"/>
            <a:ext cx="4389582" cy="2469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422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B00F15-74D9-59F4-5993-A659E9E13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b="1" dirty="0"/>
              <a:t>実装内容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9A27C51-F567-5F94-95C8-E4F22394DAC6}"/>
              </a:ext>
            </a:extLst>
          </p:cNvPr>
          <p:cNvSpPr txBox="1"/>
          <p:nvPr/>
        </p:nvSpPr>
        <p:spPr>
          <a:xfrm>
            <a:off x="838200" y="1690688"/>
            <a:ext cx="373692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雑魚敵</a:t>
            </a:r>
            <a:r>
              <a:rPr kumimoji="1" lang="en-US" altLang="ja-JP" sz="2800" dirty="0"/>
              <a:t>:2~4</a:t>
            </a:r>
            <a:r>
              <a:rPr kumimoji="1" lang="ja-JP" altLang="en-US" sz="2800" dirty="0"/>
              <a:t>種類</a:t>
            </a:r>
            <a:endParaRPr kumimoji="1" lang="en-US" altLang="ja-JP" sz="2800" dirty="0"/>
          </a:p>
          <a:p>
            <a:r>
              <a:rPr kumimoji="1" lang="ja-JP" altLang="en-US" sz="2800" dirty="0"/>
              <a:t>ボス</a:t>
            </a:r>
            <a:r>
              <a:rPr kumimoji="1" lang="en-US" altLang="ja-JP" sz="2800" dirty="0"/>
              <a:t>:1~2</a:t>
            </a:r>
            <a:r>
              <a:rPr kumimoji="1" lang="ja-JP" altLang="en-US" sz="2800" dirty="0"/>
              <a:t>種類</a:t>
            </a:r>
            <a:endParaRPr kumimoji="1" lang="en-US" altLang="ja-JP" sz="2800" dirty="0"/>
          </a:p>
          <a:p>
            <a:r>
              <a:rPr kumimoji="1" lang="ja-JP" altLang="en-US" sz="2800" dirty="0"/>
              <a:t>ステージ</a:t>
            </a:r>
            <a:r>
              <a:rPr kumimoji="1" lang="en-US" altLang="ja-JP" sz="2800" dirty="0"/>
              <a:t>:1~2</a:t>
            </a:r>
            <a:r>
              <a:rPr kumimoji="1" lang="ja-JP" altLang="en-US" sz="2800" dirty="0"/>
              <a:t>ステージ</a:t>
            </a:r>
          </a:p>
        </p:txBody>
      </p:sp>
    </p:spTree>
    <p:extLst>
      <p:ext uri="{BB962C8B-B14F-4D97-AF65-F5344CB8AC3E}">
        <p14:creationId xmlns:p14="http://schemas.microsoft.com/office/powerpoint/2010/main" val="32383598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</TotalTime>
  <Words>136</Words>
  <Application>Microsoft Office PowerPoint</Application>
  <PresentationFormat>ワイド画面</PresentationFormat>
  <Paragraphs>29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Iron Sword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実装内容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大翔 佐々木</dc:creator>
  <cp:lastModifiedBy>大翔 佐々木</cp:lastModifiedBy>
  <cp:revision>4</cp:revision>
  <dcterms:created xsi:type="dcterms:W3CDTF">2026-05-07T02:19:05Z</dcterms:created>
  <dcterms:modified xsi:type="dcterms:W3CDTF">2026-05-15T00:36:28Z</dcterms:modified>
</cp:coreProperties>
</file>